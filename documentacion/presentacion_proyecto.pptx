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3.png" ContentType="image/png"/>
  <Override PartName="/ppt/media/image4.png" ContentType="image/png"/>
  <Override PartName="/ppt/media/image14.png" ContentType="image/png"/>
  <Override PartName="/ppt/media/image5.png" ContentType="image/png"/>
  <Override PartName="/ppt/media/image15.png" ContentType="image/png"/>
  <Override PartName="/ppt/media/image6.png" ContentType="image/png"/>
  <Override PartName="/ppt/media/image10.png" ContentType="image/png"/>
  <Override PartName="/ppt/media/image1.png" ContentType="image/png"/>
  <Override PartName="/ppt/media/image7.png" ContentType="image/png"/>
  <Override PartName="/ppt/media/image11.png" ContentType="image/png"/>
  <Override PartName="/ppt/media/image2.png" ContentType="image/png"/>
  <Override PartName="/ppt/media/image8.png" ContentType="image/png"/>
  <Override PartName="/ppt/media/image12.png" ContentType="image/png"/>
  <Override PartName="/ppt/media/image3.png" ContentType="image/png"/>
  <Override PartName="/ppt/media/image9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ldImg"/>
          </p:nvPr>
        </p:nvSpPr>
        <p:spPr>
          <a:xfrm>
            <a:off x="237960" y="950040"/>
            <a:ext cx="7857000" cy="468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90000"/>
              </a:lnSpc>
            </a:pPr>
            <a:r>
              <a:rPr b="0" lang="es-ES" sz="4250" spc="-1" strike="noStrike">
                <a:solidFill>
                  <a:schemeClr val="dk1"/>
                </a:solidFill>
                <a:latin typeface="Calibri Light"/>
              </a:rPr>
              <a:t>Pulse para desplazar la diapositiva</a:t>
            </a:r>
            <a:endParaRPr b="0" lang="es-ES" sz="425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3040" y="5938200"/>
            <a:ext cx="6666840" cy="562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ES" sz="328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ES" sz="3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616560" cy="6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4"/>
          </p:nvPr>
        </p:nvSpPr>
        <p:spPr>
          <a:xfrm>
            <a:off x="4716720" y="0"/>
            <a:ext cx="3616560" cy="6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5"/>
          </p:nvPr>
        </p:nvSpPr>
        <p:spPr>
          <a:xfrm>
            <a:off x="0" y="11876760"/>
            <a:ext cx="3616560" cy="6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6"/>
          </p:nvPr>
        </p:nvSpPr>
        <p:spPr>
          <a:xfrm>
            <a:off x="4716720" y="11876760"/>
            <a:ext cx="3616560" cy="624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A26D0EB-34D7-4D97-9DAA-1982761BEDCE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-360" y="-360"/>
            <a:ext cx="720" cy="7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4059612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marL="216000" indent="-216000">
              <a:buNone/>
            </a:pPr>
            <a:endParaRPr b="0" lang="es-E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es-E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s-ES" sz="425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0C1ACF-B7C9-4C78-B02E-F9F0EA18AA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E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endParaRPr b="0" lang="es-ES" sz="425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Pulse para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editar el formato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del texto de </a:t>
            </a:r>
            <a:r>
              <a:rPr b="0" lang="es-ES" sz="4400" spc="-1" strike="noStrike">
                <a:solidFill>
                  <a:srgbClr val="000000"/>
                </a:solidFill>
                <a:latin typeface="Arial"/>
              </a:rPr>
              <a:t>título</a:t>
            </a:r>
            <a:endParaRPr b="0" lang="es-E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E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E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E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E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E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674A4FC-67D2-4257-86F8-236A2C3E1C99}" type="slidenum">
              <a:rPr b="0" lang="es-ES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E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364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90000"/>
              </a:lnSpc>
              <a:buNone/>
            </a:pPr>
            <a:r>
              <a:rPr b="0" lang="es-ES" sz="4250" spc="-1" strike="noStrike">
                <a:solidFill>
                  <a:schemeClr val="dk1"/>
                </a:solidFill>
                <a:latin typeface="Calibri Light"/>
              </a:rPr>
              <a:t>Pulse para editar el formato del texto de título</a:t>
            </a:r>
            <a:endParaRPr b="0" lang="es-ES" sz="425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3640" y="132624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168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231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s-ES" sz="231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9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65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s-ES" sz="165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70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49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s-ES" sz="149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46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ES" sz="149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s-ES" sz="149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65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s-ES" sz="165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65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s-ES" sz="165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3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ES" sz="165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s-ES" sz="165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0" y="360"/>
            <a:ext cx="125640" cy="5669640"/>
          </a:xfrm>
          <a:prstGeom prst="rect">
            <a:avLst/>
          </a:pr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/>
          <p:nvPr/>
        </p:nvSpPr>
        <p:spPr>
          <a:xfrm>
            <a:off x="503640" y="677160"/>
            <a:ext cx="5197320" cy="8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0555"/>
          </a:bodyPr>
          <a:p>
            <a:pPr>
              <a:lnSpc>
                <a:spcPct val="100000"/>
              </a:lnSpc>
            </a:pPr>
            <a:r>
              <a:rPr b="1" lang="es-ES" sz="3450" spc="-1" strike="noStrike">
                <a:solidFill>
                  <a:srgbClr val="ffffff"/>
                </a:solidFill>
                <a:latin typeface="DejaVu Sans"/>
                <a:ea typeface="DejaVu Sans"/>
              </a:rPr>
              <a:t>BPM y RCA para procesos industriales</a:t>
            </a:r>
            <a:endParaRPr b="0" lang="es-ES" sz="3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503640" y="1621800"/>
            <a:ext cx="48819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 lnSpcReduction="10000"/>
          </a:bodyPr>
          <a:p>
            <a:pPr>
              <a:lnSpc>
                <a:spcPct val="100000"/>
              </a:lnSpc>
            </a:pPr>
            <a:r>
              <a:rPr b="0" lang="es-ES" sz="1870" spc="-1" strike="noStrike">
                <a:solidFill>
                  <a:srgbClr val="c8d7ea"/>
                </a:solidFill>
                <a:latin typeface="DejaVu Sans"/>
                <a:ea typeface="DejaVu Sans"/>
              </a:rPr>
              <a:t>Base de contexto operativo con evolución hacia el análisis agentivo</a:t>
            </a:r>
            <a:endParaRPr b="0" lang="es-ES" sz="18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503640" y="2441160"/>
            <a:ext cx="1338480" cy="31320"/>
          </a:xfrm>
          <a:prstGeom prst="rect">
            <a:avLst/>
          </a:pr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3320" bIns="-1332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503640" y="2661480"/>
            <a:ext cx="488196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1" lang="es-ES" sz="1350" spc="-1" strike="noStrike">
                <a:solidFill>
                  <a:srgbClr val="ffffff"/>
                </a:solidFill>
                <a:latin typeface="DejaVu Sans"/>
                <a:ea typeface="DejaVu Sans"/>
              </a:rPr>
              <a:t>Máster en Desarrollo de Software apoyado por IA</a:t>
            </a:r>
            <a:endParaRPr b="0" lang="es-E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503640" y="2992320"/>
            <a:ext cx="3307320" cy="23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a9bcd3"/>
                </a:solidFill>
                <a:latin typeface="DejaVu Sans"/>
                <a:ea typeface="DejaVu Sans"/>
              </a:rPr>
              <a:t>Proyecto Fin de Máster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 rot="21209400">
            <a:off x="4829400" y="2536920"/>
            <a:ext cx="3639600" cy="2845800"/>
          </a:xfrm>
          <a:prstGeom prst="rect">
            <a:avLst/>
          </a:prstGeom>
          <a:ln w="0">
            <a:noFill/>
          </a:ln>
        </p:spPr>
      </p:pic>
      <p:pic>
        <p:nvPicPr>
          <p:cNvPr id="24" name="" descr=""/>
          <p:cNvPicPr/>
          <p:nvPr/>
        </p:nvPicPr>
        <p:blipFill>
          <a:blip r:embed="rId2"/>
          <a:stretch/>
        </p:blipFill>
        <p:spPr>
          <a:xfrm rot="1285200">
            <a:off x="6840000" y="735120"/>
            <a:ext cx="2519280" cy="2449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El proceso industrial como mapa de contexto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02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394320" y="151200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6567480" y="1448640"/>
            <a:ext cx="269316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Estructura multinivel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6567480" y="1685160"/>
            <a:ext cx="2693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Procesos, operaciones y stocks se organizan con profundidad navegable.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6394320" y="2441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6567480" y="2377800"/>
            <a:ext cx="269316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Relaciones explícitas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6567480" y="2614320"/>
            <a:ext cx="2693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El modelo conecta entidades y conserva su posición para representar el flujo.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6394320" y="337032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6567480" y="3307320"/>
            <a:ext cx="269316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Base para el razonamiento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6567480" y="3543480"/>
            <a:ext cx="269316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La topología aporta el contexto que necesitan técnicos y futuros agentes.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732960" y="1054800"/>
            <a:ext cx="5387040" cy="4053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Navegación desde el flujo hasta el detalle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03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456840" y="1377720"/>
            <a:ext cx="4015800" cy="1449720"/>
          </a:xfrm>
          <a:prstGeom prst="roundRect">
            <a:avLst>
              <a:gd name="adj" fmla="val 6316"/>
            </a:avLst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331320" y="1496160"/>
            <a:ext cx="2834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1820"/>
          </a:bodyPr>
          <a:p>
            <a:pPr>
              <a:lnSpc>
                <a:spcPct val="100000"/>
              </a:lnSpc>
            </a:pPr>
            <a:r>
              <a:rPr b="1" lang="es-ES" sz="1950" spc="-1" strike="noStrike">
                <a:solidFill>
                  <a:srgbClr val="071d3a"/>
                </a:solidFill>
                <a:latin typeface="DejaVu Sans"/>
                <a:ea typeface="DejaVu Sans"/>
              </a:rPr>
              <a:t>Cada nodo abre un contexto operativo concreto</a:t>
            </a:r>
            <a:endParaRPr b="0" lang="es-E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331320" y="2252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504480" y="2188800"/>
            <a:ext cx="262980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Tipo y función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504480" y="2425320"/>
            <a:ext cx="2629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Operación, stock u otro elemento del proceso.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331320" y="3071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504480" y="3008160"/>
            <a:ext cx="262980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Activos asociados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6504480" y="3244320"/>
            <a:ext cx="2629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Máquinas, parámetros clave e indicadores.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6331320" y="3890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6504480" y="3827160"/>
            <a:ext cx="262980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Continuidad entre niveles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6504480" y="4063680"/>
            <a:ext cx="2629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El usuario conserva la relación entre subproceso y proceso principal.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900000" y="2536200"/>
            <a:ext cx="5040000" cy="268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6089"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Catálogo de procesos y conocimiento descriptivo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04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6346800" y="1448640"/>
            <a:ext cx="283464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1820" lnSpcReduction="20000"/>
          </a:bodyPr>
          <a:p>
            <a:pPr>
              <a:lnSpc>
                <a:spcPct val="100000"/>
              </a:lnSpc>
            </a:pPr>
            <a:r>
              <a:rPr b="1" lang="es-ES" sz="1870" spc="-1" strike="noStrike">
                <a:solidFill>
                  <a:srgbClr val="071d3a"/>
                </a:solidFill>
                <a:latin typeface="DejaVu Sans"/>
                <a:ea typeface="DejaVu Sans"/>
              </a:rPr>
              <a:t>Un modelo específico conserva el significado de cada entidad</a:t>
            </a:r>
            <a:endParaRPr b="0" lang="es-E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6346800" y="2315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6520320" y="2252160"/>
            <a:ext cx="2598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Descripción estructurada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520320" y="2488320"/>
            <a:ext cx="2598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Calidad, mantenimiento, indicadores y claves del proceso.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6346800" y="316548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6520320" y="3102840"/>
            <a:ext cx="2598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Trazabilidad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6520320" y="3338640"/>
            <a:ext cx="2598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La información permanece vinculada al elemento del flujo que la origina.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346800" y="4016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6520320" y="3953160"/>
            <a:ext cx="2598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Extensión documental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520320" y="4189320"/>
            <a:ext cx="259848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Una base RAG paralela puede incorporar documentos sin perder esa relación.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540000" y="1260000"/>
            <a:ext cx="5047560" cy="2700000"/>
          </a:xfrm>
          <a:prstGeom prst="rect">
            <a:avLst/>
          </a:prstGeom>
          <a:ln w="0">
            <a:noFill/>
          </a:ln>
        </p:spPr>
      </p:pic>
      <p:pic>
        <p:nvPicPr>
          <p:cNvPr id="73" name="" descr=""/>
          <p:cNvPicPr/>
          <p:nvPr/>
        </p:nvPicPr>
        <p:blipFill>
          <a:blip r:embed="rId2"/>
          <a:stretch/>
        </p:blipFill>
        <p:spPr>
          <a:xfrm>
            <a:off x="1980000" y="3420000"/>
            <a:ext cx="3611520" cy="1994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Modelos extensibles para máquinas y operaciones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05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7020000" y="1496160"/>
            <a:ext cx="242964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7867"/>
          </a:bodyPr>
          <a:p>
            <a:pPr>
              <a:lnSpc>
                <a:spcPct val="100000"/>
              </a:lnSpc>
            </a:pPr>
            <a:r>
              <a:rPr b="1" lang="es-ES" sz="1870" spc="-1" strike="noStrike">
                <a:solidFill>
                  <a:srgbClr val="071d3a"/>
                </a:solidFill>
                <a:latin typeface="DejaVu Sans"/>
                <a:ea typeface="DejaVu Sans"/>
              </a:rPr>
              <a:t>Esquema estable, detalle ampliable</a:t>
            </a:r>
            <a:endParaRPr b="0" lang="es-E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7020000" y="2204640"/>
            <a:ext cx="2429640" cy="9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0" lang="es-ES" sz="1280" spc="-1" strike="noStrike">
                <a:solidFill>
                  <a:srgbClr val="506176"/>
                </a:solidFill>
                <a:latin typeface="DejaVu Sans"/>
                <a:ea typeface="DejaVu Sans"/>
              </a:rPr>
              <a:t>Los campos JSON permiten añadir atributos específicos sin multiplicar tablas para cada variante de activo.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 flipV="1">
            <a:off x="7200000" y="3419280"/>
            <a:ext cx="2013120" cy="60840"/>
          </a:xfrm>
          <a:prstGeom prst="rect">
            <a:avLst/>
          </a:prstGeom>
          <a:solidFill>
            <a:srgbClr val="00a6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6200" bIns="162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7200000" y="3669840"/>
            <a:ext cx="2249640" cy="7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El contexto ampliado mantiene el vínculo con el flujo BPM.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 rot="21447000">
            <a:off x="473760" y="1321560"/>
            <a:ext cx="4680000" cy="3075480"/>
          </a:xfrm>
          <a:prstGeom prst="rect">
            <a:avLst/>
          </a:prstGeom>
          <a:ln w="0">
            <a:noFill/>
          </a:ln>
        </p:spPr>
      </p:pic>
      <p:pic>
        <p:nvPicPr>
          <p:cNvPr id="84" name="" descr=""/>
          <p:cNvPicPr/>
          <p:nvPr/>
        </p:nvPicPr>
        <p:blipFill>
          <a:blip r:embed="rId2"/>
          <a:stretch/>
        </p:blipFill>
        <p:spPr>
          <a:xfrm rot="353400">
            <a:off x="2273760" y="2917440"/>
            <a:ext cx="4375800" cy="244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6089"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Contratos industriales para evaluar el resultado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06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7150320" y="1448640"/>
            <a:ext cx="2204640" cy="50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55772" lnSpcReduction="20000"/>
          </a:bodyPr>
          <a:p>
            <a:pPr>
              <a:lnSpc>
                <a:spcPct val="100000"/>
              </a:lnSpc>
            </a:pPr>
            <a:r>
              <a:rPr b="1" lang="es-ES" sz="1870" spc="-1" strike="noStrike">
                <a:solidFill>
                  <a:srgbClr val="071d3a"/>
                </a:solidFill>
                <a:latin typeface="DejaVu Sans"/>
                <a:ea typeface="DejaVu Sans"/>
              </a:rPr>
              <a:t>El contrato define el comportamiento esperado</a:t>
            </a:r>
            <a:endParaRPr b="0" lang="es-ES" sz="187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150320" y="225216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7323480" y="2188800"/>
            <a:ext cx="199980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Producto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7323480" y="2425320"/>
            <a:ext cx="1999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Características y tolerancias que deben respetarse.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7150320" y="305532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7323480" y="2992320"/>
            <a:ext cx="199980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Desempeño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7323480" y="3228480"/>
            <a:ext cx="1999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Resultados de calidad y tiempos de ciclo.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7150320" y="3858840"/>
            <a:ext cx="62640" cy="62640"/>
          </a:xfrm>
          <a:prstGeom prst="ellipse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60" bIns="-36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7323480" y="3795480"/>
            <a:ext cx="199980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>
              <a:lnSpc>
                <a:spcPct val="100000"/>
              </a:lnSpc>
            </a:pPr>
            <a:r>
              <a:rPr b="1" lang="es-ES" sz="1430" spc="-1" strike="noStrike">
                <a:solidFill>
                  <a:srgbClr val="071d3a"/>
                </a:solidFill>
                <a:latin typeface="DejaVu Sans"/>
                <a:ea typeface="DejaVu Sans"/>
              </a:rPr>
              <a:t>Impacto</a:t>
            </a:r>
            <a:endParaRPr b="0" lang="es-ES" sz="14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7323480" y="4032000"/>
            <a:ext cx="1999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0" lang="es-ES" sz="1200" spc="-1" strike="noStrike">
                <a:solidFill>
                  <a:srgbClr val="506176"/>
                </a:solidFill>
                <a:latin typeface="DejaVu Sans"/>
                <a:ea typeface="DejaVu Sans"/>
              </a:rPr>
              <a:t>El incumplimiento activa un análisis vinculado al proceso.</a:t>
            </a:r>
            <a:endParaRPr b="0" lang="es-E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 rot="21277800">
            <a:off x="748080" y="1234080"/>
            <a:ext cx="5629680" cy="244656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 rot="1584600">
            <a:off x="972360" y="3454560"/>
            <a:ext cx="1761840" cy="1877760"/>
          </a:xfrm>
          <a:prstGeom prst="rect">
            <a:avLst/>
          </a:prstGeom>
          <a:ln w="0">
            <a:noFill/>
          </a:ln>
        </p:spPr>
      </p:pic>
      <p:pic>
        <p:nvPicPr>
          <p:cNvPr id="102" name="" descr=""/>
          <p:cNvPicPr/>
          <p:nvPr/>
        </p:nvPicPr>
        <p:blipFill>
          <a:blip r:embed="rId3"/>
          <a:stretch/>
        </p:blipFill>
        <p:spPr>
          <a:xfrm rot="20814000">
            <a:off x="3402000" y="3609720"/>
            <a:ext cx="1655280" cy="162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Análisis causal sistemático y reutilizable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07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236640" y="1448640"/>
            <a:ext cx="29293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67867"/>
          </a:bodyPr>
          <a:p>
            <a:pPr>
              <a:lnSpc>
                <a:spcPct val="100000"/>
              </a:lnSpc>
            </a:pPr>
            <a:r>
              <a:rPr b="1" lang="es-ES" sz="2020" spc="-1" strike="noStrike">
                <a:solidFill>
                  <a:srgbClr val="071d3a"/>
                </a:solidFill>
                <a:latin typeface="DejaVu Sans"/>
                <a:ea typeface="DejaVu Sans"/>
              </a:rPr>
              <a:t>Una plantilla por contrato</a:t>
            </a:r>
            <a:endParaRPr b="0" lang="es-ES" sz="202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236640" y="1937160"/>
            <a:ext cx="2929320" cy="78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0" lang="es-ES" sz="1350" spc="-1" strike="noStrike">
                <a:solidFill>
                  <a:srgbClr val="506176"/>
                </a:solidFill>
                <a:latin typeface="DejaVu Sans"/>
                <a:ea typeface="DejaVu Sans"/>
              </a:rPr>
              <a:t>Las hipótesis, su justificación y los métodos de cálculo quedan preparados antes de que ocurra la desviación.</a:t>
            </a:r>
            <a:endParaRPr b="0" lang="es-E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237000" y="3008160"/>
            <a:ext cx="62640" cy="991800"/>
          </a:xfrm>
          <a:prstGeom prst="rect">
            <a:avLst/>
          </a:pr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457320" y="2944800"/>
            <a:ext cx="2708640" cy="11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071d3a"/>
                </a:solidFill>
                <a:latin typeface="DejaVu Sans"/>
                <a:ea typeface="DejaVu Sans"/>
              </a:rPr>
              <a:t>La estandarización reduce la dependencia del conocimiento tácito y facilita la continuidad entre generaciones de técnicos.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56840" y="4709160"/>
            <a:ext cx="8661960" cy="26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1" lang="es-ES" sz="1280" spc="-1" strike="noStrike">
                <a:solidFill>
                  <a:srgbClr val="155eef"/>
                </a:solidFill>
                <a:latin typeface="DejaVu Sans"/>
                <a:ea typeface="DejaVu Sans"/>
              </a:rPr>
              <a:t>Evolución prevista: cálculo automático de hipótesis para acelerar el análisis agentico.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" descr=""/>
          <p:cNvPicPr/>
          <p:nvPr/>
        </p:nvPicPr>
        <p:blipFill>
          <a:blip r:embed="rId1"/>
          <a:stretch/>
        </p:blipFill>
        <p:spPr>
          <a:xfrm rot="406200">
            <a:off x="859320" y="1545120"/>
            <a:ext cx="4996800" cy="2658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360" y="360"/>
            <a:ext cx="141480" cy="5669640"/>
          </a:xfrm>
          <a:prstGeom prst="rect">
            <a:avLst/>
          </a:prstGeom>
          <a:solidFill>
            <a:srgbClr val="155e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456840" y="267840"/>
            <a:ext cx="37796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 lnSpcReduction="20000"/>
          </a:bodyPr>
          <a:p>
            <a:pPr>
              <a:lnSpc>
                <a:spcPct val="100000"/>
              </a:lnSpc>
            </a:pPr>
            <a:r>
              <a:rPr b="1" lang="es-ES" sz="980" spc="-1" strike="noStrike">
                <a:solidFill>
                  <a:srgbClr val="155eef"/>
                </a:solidFill>
                <a:latin typeface="DejaVu Sans"/>
                <a:ea typeface="DejaVu Sans"/>
              </a:rPr>
              <a:t>PROYECTO FIN DE MÁSTER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456840" y="488160"/>
            <a:ext cx="897732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1" lang="es-ES" sz="2550" spc="-1" strike="noStrike">
                <a:solidFill>
                  <a:srgbClr val="071d3a"/>
                </a:solidFill>
                <a:latin typeface="DejaVu Sans"/>
                <a:ea typeface="DejaVu Sans"/>
              </a:rPr>
              <a:t>Del incumplimiento a una causa sustentada</a:t>
            </a:r>
            <a:endParaRPr b="0" lang="es-ES" sz="25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456840" y="1039320"/>
            <a:ext cx="9166320" cy="15480"/>
          </a:xfrm>
          <a:prstGeom prst="rect">
            <a:avLst/>
          </a:prstGeom>
          <a:solidFill>
            <a:srgbClr val="eef4f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9160" bIns="-2916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9166320" y="5307480"/>
            <a:ext cx="44064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10000"/>
          </a:bodyPr>
          <a:p>
            <a:pPr algn="r">
              <a:lnSpc>
                <a:spcPct val="100000"/>
              </a:lnSpc>
            </a:pPr>
            <a:r>
              <a:rPr b="1" lang="es-ES" sz="980" spc="-1" strike="noStrike">
                <a:solidFill>
                  <a:srgbClr val="506176"/>
                </a:solidFill>
                <a:latin typeface="DejaVu Sans"/>
                <a:ea typeface="DejaVu Sans"/>
              </a:rPr>
              <a:t>08</a:t>
            </a:r>
            <a:endParaRPr b="0" lang="es-ES" sz="9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5580000" y="1260000"/>
            <a:ext cx="4140000" cy="90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1" lang="es-ES" sz="1500" spc="-1" strike="noStrike">
                <a:solidFill>
                  <a:srgbClr val="071d3a"/>
                </a:solidFill>
                <a:latin typeface="DejaVu Sans"/>
                <a:ea typeface="DejaVu Sans"/>
              </a:rPr>
              <a:t>El análisis recorre el perímetro de impacto antes de cerrar una conclusión.</a:t>
            </a:r>
            <a:endParaRPr b="0" lang="es-E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5632200" y="2340000"/>
            <a:ext cx="3007800" cy="40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0" lang="es-ES" sz="1280" spc="-1" strike="noStrike">
                <a:solidFill>
                  <a:srgbClr val="506176"/>
                </a:solidFill>
                <a:latin typeface="DejaVu Sans"/>
                <a:ea typeface="DejaVu Sans"/>
              </a:rPr>
              <a:t>Evita decisiones prematuras que prolongan la incidencia o desplazan el problema.</a:t>
            </a:r>
            <a:endParaRPr b="0" lang="es-E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1" name="" descr=""/>
          <p:cNvPicPr/>
          <p:nvPr/>
        </p:nvPicPr>
        <p:blipFill>
          <a:blip r:embed="rId1"/>
          <a:stretch/>
        </p:blipFill>
        <p:spPr>
          <a:xfrm>
            <a:off x="720000" y="1181520"/>
            <a:ext cx="2829600" cy="3318480"/>
          </a:xfrm>
          <a:prstGeom prst="rect">
            <a:avLst/>
          </a:prstGeom>
          <a:ln w="0">
            <a:noFill/>
          </a:ln>
        </p:spPr>
      </p:pic>
      <p:pic>
        <p:nvPicPr>
          <p:cNvPr id="122" name="" descr=""/>
          <p:cNvPicPr/>
          <p:nvPr/>
        </p:nvPicPr>
        <p:blipFill>
          <a:blip r:embed="rId2"/>
          <a:stretch/>
        </p:blipFill>
        <p:spPr>
          <a:xfrm rot="774000">
            <a:off x="3634920" y="1421280"/>
            <a:ext cx="1178640" cy="3494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503640" y="488160"/>
            <a:ext cx="614232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92730"/>
          </a:bodyPr>
          <a:p>
            <a:pPr>
              <a:lnSpc>
                <a:spcPct val="100000"/>
              </a:lnSpc>
            </a:pPr>
            <a:r>
              <a:rPr b="1" lang="es-ES" sz="2850" spc="-1" strike="noStrike">
                <a:solidFill>
                  <a:srgbClr val="ffffff"/>
                </a:solidFill>
                <a:latin typeface="DejaVu Sans"/>
                <a:ea typeface="DejaVu Sans"/>
              </a:rPr>
              <a:t>Visión de evolución agentiva</a:t>
            </a:r>
            <a:endParaRPr b="0" lang="es-ES" sz="2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503640" y="1070640"/>
            <a:ext cx="8504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>
              <a:lnSpc>
                <a:spcPct val="100000"/>
              </a:lnSpc>
            </a:pPr>
            <a:r>
              <a:rPr b="0" lang="es-ES" sz="1580" spc="-1" strike="noStrike">
                <a:solidFill>
                  <a:srgbClr val="c8d7ea"/>
                </a:solidFill>
                <a:latin typeface="DejaVu Sans"/>
                <a:ea typeface="DejaVu Sans"/>
              </a:rPr>
              <a:t>La base actual organiza el conocimiento para el técnico. El crecimiento previsto añade fuentes y automatización manteniendo la trazabilidad con el proceso real.</a:t>
            </a:r>
            <a:endParaRPr b="0" lang="es-E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630000" y="2173680"/>
            <a:ext cx="62640" cy="550800"/>
          </a:xfrm>
          <a:prstGeom prst="rect">
            <a:avLst/>
          </a:prstGeom>
          <a:solidFill>
            <a:srgbClr val="36c5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866160" y="2047320"/>
            <a:ext cx="133848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1" lang="es-ES" sz="1350" spc="-1" strike="noStrike">
                <a:solidFill>
                  <a:srgbClr val="36c5f0"/>
                </a:solidFill>
                <a:latin typeface="DejaVu Sans"/>
                <a:ea typeface="DejaVu Sans"/>
              </a:rPr>
              <a:t>Hoy</a:t>
            </a:r>
            <a:endParaRPr b="0" lang="es-E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865800" y="2346840"/>
            <a:ext cx="2046960" cy="51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 lnSpcReduction="20000"/>
          </a:bodyPr>
          <a:p>
            <a:pPr>
              <a:lnSpc>
                <a:spcPct val="100000"/>
              </a:lnSpc>
            </a:pPr>
            <a:r>
              <a:rPr b="1" lang="es-ES" sz="1580" spc="-1" strike="noStrike">
                <a:solidFill>
                  <a:srgbClr val="ffffff"/>
                </a:solidFill>
                <a:latin typeface="DejaVu Sans"/>
                <a:ea typeface="DejaVu Sans"/>
              </a:rPr>
              <a:t>BPM, contratos y RCA con contexto relacionado</a:t>
            </a:r>
            <a:endParaRPr b="0" lang="es-E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3606480" y="2173680"/>
            <a:ext cx="62640" cy="550800"/>
          </a:xfrm>
          <a:prstGeom prst="rect">
            <a:avLst/>
          </a:prstGeom>
          <a:solidFill>
            <a:srgbClr val="ffd4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3843000" y="2047320"/>
            <a:ext cx="173232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1" lang="es-ES" sz="1350" spc="-1" strike="noStrike">
                <a:solidFill>
                  <a:srgbClr val="ffd400"/>
                </a:solidFill>
                <a:latin typeface="DejaVu Sans"/>
                <a:ea typeface="DejaVu Sans"/>
              </a:rPr>
              <a:t>Siguiente etapa</a:t>
            </a:r>
            <a:endParaRPr b="0" lang="es-E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3843000" y="2346840"/>
            <a:ext cx="23623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1" lang="es-ES" sz="1580" spc="-1" strike="noStrike">
                <a:solidFill>
                  <a:srgbClr val="ffffff"/>
                </a:solidFill>
                <a:latin typeface="DejaVu Sans"/>
                <a:ea typeface="DejaVu Sans"/>
              </a:rPr>
              <a:t>Cálculos automáticos y documentos recuperados mediante RAG</a:t>
            </a:r>
            <a:endParaRPr b="0" lang="es-E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819480" y="2173680"/>
            <a:ext cx="62640" cy="550800"/>
          </a:xfrm>
          <a:prstGeom prst="rect">
            <a:avLst/>
          </a:prstGeom>
          <a:solidFill>
            <a:srgbClr val="00a67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s-E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7056000" y="2047320"/>
            <a:ext cx="1259640" cy="25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86682"/>
          </a:bodyPr>
          <a:p>
            <a:pPr>
              <a:lnSpc>
                <a:spcPct val="100000"/>
              </a:lnSpc>
            </a:pPr>
            <a:r>
              <a:rPr b="1" lang="es-ES" sz="1350" spc="-1" strike="noStrike">
                <a:solidFill>
                  <a:srgbClr val="00a67e"/>
                </a:solidFill>
                <a:latin typeface="DejaVu Sans"/>
                <a:ea typeface="DejaVu Sans"/>
              </a:rPr>
              <a:t>Meta</a:t>
            </a:r>
            <a:endParaRPr b="0" lang="es-E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7056000" y="2346840"/>
            <a:ext cx="2362320" cy="64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1" lang="es-ES" sz="1580" spc="-1" strike="noStrike">
                <a:solidFill>
                  <a:srgbClr val="ffffff"/>
                </a:solidFill>
                <a:latin typeface="DejaVu Sans"/>
                <a:ea typeface="DejaVu Sans"/>
              </a:rPr>
              <a:t>Agentes conectados con señales y resultados del proceso</a:t>
            </a:r>
            <a:endParaRPr b="0" lang="es-ES" sz="15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503640" y="4094640"/>
            <a:ext cx="1968480" cy="22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1" lang="es-ES" sz="1200" spc="-1" strike="noStrike">
                <a:solidFill>
                  <a:srgbClr val="8ea7c4"/>
                </a:solidFill>
                <a:latin typeface="DejaVu Sans"/>
                <a:ea typeface="DejaVu Sans"/>
              </a:rPr>
              <a:t>Principio de diseño</a:t>
            </a:r>
            <a:endParaRPr b="0" lang="es-E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503640" y="4362480"/>
            <a:ext cx="8268120" cy="47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 fontScale="74587"/>
          </a:bodyPr>
          <a:p>
            <a:pPr>
              <a:lnSpc>
                <a:spcPct val="100000"/>
              </a:lnSpc>
            </a:pPr>
            <a:r>
              <a:rPr b="1" lang="es-ES" sz="1729" spc="-1" strike="noStrike">
                <a:solidFill>
                  <a:srgbClr val="ffffff"/>
                </a:solidFill>
                <a:latin typeface="DejaVu Sans"/>
                <a:ea typeface="DejaVu Sans"/>
              </a:rPr>
              <a:t>Cada dato y cada inferencia deben conservar su relación con la entidad, el contrato y el análisis que les da significado.</a:t>
            </a:r>
            <a:endParaRPr b="0" lang="es-ES" sz="1729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 pitchFamily="0" charset="1"/>
        <a:ea typeface="Calibri Light" pitchFamily="0" charset="1"/>
        <a:cs typeface="Calibri Light" pitchFamily="0" charset="1"/>
      </a:majorFont>
      <a:minorFont>
        <a:latin typeface="Calibri" pitchFamily="0" charset="1"/>
        <a:ea typeface="Calibri" pitchFamily="0" charset="1"/>
        <a:cs typeface="Calibri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2026-09-13T11:44:56Z</dcterms:created>
  <dc:creator/>
  <dc:description/>
  <dc:language>es-ES</dc:language>
  <cp:lastModifiedBy/>
  <dcterms:modified xsi:type="dcterms:W3CDTF">2026-09-13T13:48:40Z</dcterms:modified>
  <cp:revision>2</cp:revision>
  <dc:subject/>
  <dc:title/>
</cp:coreProperties>
</file>